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73" r:id="rId3"/>
    <p:sldId id="274" r:id="rId4"/>
    <p:sldId id="257" r:id="rId5"/>
    <p:sldId id="258" r:id="rId6"/>
    <p:sldId id="259" r:id="rId7"/>
    <p:sldId id="268" r:id="rId8"/>
    <p:sldId id="262" r:id="rId9"/>
    <p:sldId id="275" r:id="rId10"/>
    <p:sldId id="276" r:id="rId11"/>
    <p:sldId id="260" r:id="rId12"/>
    <p:sldId id="261" r:id="rId13"/>
    <p:sldId id="270" r:id="rId14"/>
    <p:sldId id="263" r:id="rId15"/>
    <p:sldId id="266" r:id="rId16"/>
    <p:sldId id="264" r:id="rId17"/>
    <p:sldId id="269" r:id="rId18"/>
    <p:sldId id="267" r:id="rId19"/>
    <p:sldId id="272" r:id="rId20"/>
    <p:sldId id="271" r:id="rId21"/>
    <p:sldId id="26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233C33-57DA-4EB0-B0C9-8CC7C0993048}" v="12" dt="2026-08-20T08:59:56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8E58-0FBF-4F4F-9C43-9300FC15A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9E0F4-B8BE-470C-AEB7-2B9774C26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73670-D2FC-4A3E-8D43-50FF004F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B1E3-0C78-408C-A508-19ADBF59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A363-CAFE-41E1-9A1C-1878FFA3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17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D503-4B44-44E8-A3CE-968A30C1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23AD-BCE6-4A0E-A699-9F59FB23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82CFE-784C-4D57-A49E-1ED0E206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9144-AD4C-4B5D-96B1-771DE68A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6E608-F5A4-4BA3-A3B8-D77E320D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51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DF44-F7B5-46B1-9FF2-BB7D448F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238AB-A317-4994-B214-826179BEE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47E30-DAFB-4A1B-A442-9F52406F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A76B8-B560-40B0-9F8B-288C1027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B07C-E3A4-461B-8B64-A5C7C98D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8AA1-2781-46F3-9134-63F2C75A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258C-6808-4BC0-8B96-0A17553F6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54211-97C7-4C5C-AF85-28944829C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465C6-7ED8-4C13-8521-B84DA528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413BF-8A10-4489-83A8-C0F9DAB0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F5B5C-0639-4B89-BD16-1934DCFB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7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B441-0B6C-446C-839C-01079248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B6FD6-F8A2-4B8C-9B41-69B5778D1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063AA-9DD6-4F42-B842-C957C62A0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6F697-C561-4553-A648-F4ABB1FE9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13E0A-A8F1-4993-AFAC-F7D60E226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6F49A-B1AD-4C07-8086-ED0FBFD5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CF843-9A1C-4791-B7EA-623102F0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A5CDA-0669-45FA-BC21-699E99E8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3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0750-CFA3-4C05-85C8-61382F25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C3EE6-0953-4CC1-876D-FD096ECA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F8D3F-C773-47EE-A82A-9B305D59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89EDD-5923-49F0-9967-ED9AEE9C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11D7F-AA89-4926-A2CF-FA56DB50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908E4-FBD4-4C71-8FF1-85AF0A14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967E6-A9C2-4EA4-A3F0-6061E38E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2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805A-726C-4C8B-932F-02363C67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11D9-0900-4C52-A18F-35CC35330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D710C-1C88-4DD7-B0D8-BF6B0C281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AC7C8-DDED-4509-8393-6708370B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0AE2D-22E3-46CB-8B1D-825B1CC3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519EF-0BDB-47D8-930F-AE661137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4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3059-C2C2-439F-973A-42E8F8A4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99E28-C69C-4113-863D-C43154F07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41116-E0FA-4C85-B1E2-85F9BB080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E82CA-F9ED-44AD-81E2-EAEBC495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3023E-37FE-428D-B6C7-5DDA2CCE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8B7A-5F57-45E4-B75F-B0FDB2BB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72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7260-F41C-4BC0-9C7C-26857080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60C54-965C-4505-A639-E071400AA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3EE4-F04E-45AA-B561-C11C2F00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38EB-955D-4A6A-96BB-DAA2D031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64F5A-4D8B-465B-91EE-56253395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7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44666-6346-4E7D-A9C5-8AD4BBDAF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E9E70-6764-4E62-AC17-45C11E6FC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3C4A-347F-4CFA-A5D0-02AE00C9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55E5-3A0C-46FD-BF29-A12277D9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D3A15-1E69-4963-A2D2-7E4FD1F8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12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4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C801F-46F2-4EFC-8A3E-FF6ABA60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EB35-5D43-4DF8-A888-EBCF75AC7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F13DC-67AC-4D5E-A8ED-4C7DB6261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4CA3B-5C3F-400D-99B4-3AB91F3E25E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3CCCC-EDF4-4E58-A859-43C485E2A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82F3-63B2-4F0F-BB0F-85D1F7E3F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0291E-C986-4709-9F9D-673C3DEF9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1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4ACB-7E34-CD18-D78E-52C23F964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687" y="1600201"/>
            <a:ext cx="8920301" cy="2209797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HDFS-Based Large-Scale Healthcare Data Storage and Retrieval System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AND BIG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521ED-4BCC-7533-DB60-0AFCBAFA0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1" y="3886200"/>
            <a:ext cx="9182031" cy="1371599"/>
          </a:xfrm>
        </p:spPr>
        <p:txBody>
          <a:bodyPr>
            <a:normAutofit fontScale="25000" lnSpcReduction="20000"/>
          </a:bodyPr>
          <a:lstStyle/>
          <a:p>
            <a:pPr algn="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</a:p>
          <a:p>
            <a:pPr algn="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S.BLESSIKA(192525251)</a:t>
            </a:r>
          </a:p>
          <a:p>
            <a:pPr algn="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M.KYATHI SAI PRIYA(192572101)</a:t>
            </a:r>
          </a:p>
          <a:p>
            <a:pPr algn="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E.B ASHWINI(192511422)</a:t>
            </a:r>
          </a:p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</a:t>
            </a:r>
          </a:p>
        </p:txBody>
      </p:sp>
      <p:pic>
        <p:nvPicPr>
          <p:cNvPr id="4" name="Picture 3" descr="Saveetha Institute of Medical and Technical Sciences -SIMATS | Chennai">
            <a:extLst>
              <a:ext uri="{FF2B5EF4-FFF2-40B4-BE49-F238E27FC236}">
                <a16:creationId xmlns:a16="http://schemas.microsoft.com/office/drawing/2014/main" id="{CE1E611C-96BE-84DC-BEB2-7BDC0337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82" y="-56428"/>
            <a:ext cx="1734585" cy="1734585"/>
          </a:xfrm>
          <a:prstGeom prst="rect">
            <a:avLst/>
          </a:prstGeom>
        </p:spPr>
      </p:pic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39E27162-EF84-7488-89FF-89D7B4448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3" y="-16671"/>
            <a:ext cx="1320454" cy="144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5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AC71968B-57CB-4765-B57D-0F74BDEB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5" y="76093"/>
            <a:ext cx="1320454" cy="1010585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7AF9F572-3B6D-40D3-A260-D38A1136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930" y="76093"/>
            <a:ext cx="1734585" cy="1010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849753-3A96-4BA8-99C5-DD2CC6BC47A8}"/>
              </a:ext>
            </a:extLst>
          </p:cNvPr>
          <p:cNvSpPr txBox="1"/>
          <p:nvPr/>
        </p:nvSpPr>
        <p:spPr>
          <a:xfrm>
            <a:off x="2822713" y="187686"/>
            <a:ext cx="6983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(cont..)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F67B00-0C36-439C-B938-F4A2AF7AC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883629"/>
              </p:ext>
            </p:extLst>
          </p:nvPr>
        </p:nvGraphicFramePr>
        <p:xfrm>
          <a:off x="1687443" y="1086678"/>
          <a:ext cx="6277113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696">
                  <a:extLst>
                    <a:ext uri="{9D8B030D-6E8A-4147-A177-3AD203B41FA5}">
                      <a16:colId xmlns:a16="http://schemas.microsoft.com/office/drawing/2014/main" val="1625395273"/>
                    </a:ext>
                  </a:extLst>
                </a:gridCol>
                <a:gridCol w="5592417">
                  <a:extLst>
                    <a:ext uri="{9D8B030D-6E8A-4147-A177-3AD203B41FA5}">
                      <a16:colId xmlns:a16="http://schemas.microsoft.com/office/drawing/2014/main" val="1249023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Contents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2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93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7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7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19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Literature Review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0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6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Architecture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1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Modue</a:t>
                      </a:r>
                      <a:r>
                        <a:rPr lang="en-US" dirty="0"/>
                        <a:t> 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2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Module 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03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10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Module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02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 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568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Module3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15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Advantages and Limitations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9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AC71968B-57CB-4765-B57D-0F74BDEB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5" y="76093"/>
            <a:ext cx="1320454" cy="1010585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7AF9F572-3B6D-40D3-A260-D38A1136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930" y="76093"/>
            <a:ext cx="1734585" cy="1010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849753-3A96-4BA8-99C5-DD2CC6BC47A8}"/>
              </a:ext>
            </a:extLst>
          </p:cNvPr>
          <p:cNvSpPr txBox="1"/>
          <p:nvPr/>
        </p:nvSpPr>
        <p:spPr>
          <a:xfrm>
            <a:off x="2822713" y="187686"/>
            <a:ext cx="6983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F67B00-0C36-439C-B938-F4A2AF7AC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08208"/>
              </p:ext>
            </p:extLst>
          </p:nvPr>
        </p:nvGraphicFramePr>
        <p:xfrm>
          <a:off x="1687443" y="1193358"/>
          <a:ext cx="6277113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696">
                  <a:extLst>
                    <a:ext uri="{9D8B030D-6E8A-4147-A177-3AD203B41FA5}">
                      <a16:colId xmlns:a16="http://schemas.microsoft.com/office/drawing/2014/main" val="1625395273"/>
                    </a:ext>
                  </a:extLst>
                </a:gridCol>
                <a:gridCol w="5592417">
                  <a:extLst>
                    <a:ext uri="{9D8B030D-6E8A-4147-A177-3AD203B41FA5}">
                      <a16:colId xmlns:a16="http://schemas.microsoft.com/office/drawing/2014/main" val="1249023307"/>
                    </a:ext>
                  </a:extLst>
                </a:gridCol>
              </a:tblGrid>
              <a:tr h="257622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Contents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29818"/>
                  </a:ext>
                </a:extLst>
              </a:tr>
              <a:tr h="257622">
                <a:tc>
                  <a:txBody>
                    <a:bodyPr/>
                    <a:lstStyle/>
                    <a:p>
                      <a:r>
                        <a:rPr lang="en-US" dirty="0"/>
                        <a:t>15.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</a:t>
                      </a:r>
                      <a:r>
                        <a:rPr lang="en-US" dirty="0" err="1"/>
                        <a:t>WorldApplications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93080"/>
                  </a:ext>
                </a:extLst>
              </a:tr>
              <a:tr h="257622">
                <a:tc>
                  <a:txBody>
                    <a:bodyPr/>
                    <a:lstStyle/>
                    <a:p>
                      <a:r>
                        <a:rPr lang="en-US" dirty="0"/>
                        <a:t>16.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Scope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76894"/>
                  </a:ext>
                </a:extLst>
              </a:tr>
              <a:tr h="285854">
                <a:tc>
                  <a:txBody>
                    <a:bodyPr/>
                    <a:lstStyle/>
                    <a:p>
                      <a:r>
                        <a:rPr lang="en-US" dirty="0"/>
                        <a:t>17.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70230"/>
                  </a:ext>
                </a:extLst>
              </a:tr>
              <a:tr h="257622">
                <a:tc>
                  <a:txBody>
                    <a:bodyPr/>
                    <a:lstStyle/>
                    <a:p>
                      <a:r>
                        <a:rPr lang="en-US" dirty="0"/>
                        <a:t>18.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220486"/>
                  </a:ext>
                </a:extLst>
              </a:tr>
              <a:tr h="257622">
                <a:tc>
                  <a:txBody>
                    <a:bodyPr/>
                    <a:lstStyle/>
                    <a:p>
                      <a:r>
                        <a:rPr lang="en-US" dirty="0"/>
                        <a:t>19.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References (cont..)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03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9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2874-2B7A-E031-EDD6-106E36C8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530" y="588450"/>
            <a:ext cx="5928851" cy="103238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7EABA-C55E-D392-36C0-0EAC946E696E}"/>
              </a:ext>
            </a:extLst>
          </p:cNvPr>
          <p:cNvSpPr txBox="1"/>
          <p:nvPr/>
        </p:nvSpPr>
        <p:spPr>
          <a:xfrm>
            <a:off x="1026313" y="1620837"/>
            <a:ext cx="1074728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Healthcare generates large amounts of data every day.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Data includes EHRs, medical images, lab reports, and sensor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Traditional storage has capacity and scalability limitations.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HDFS stores data across multiple computers.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Data is divided into blocks and replicated for reliability.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HDFS provides scalable and fault-tolerant storage.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It supports fast retrieval and healthcare data analysis. </a:t>
            </a:r>
          </a:p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C2E357F8-0897-47AD-AB62-6C6A9E40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215767"/>
          </a:xfrm>
          <a:prstGeom prst="rect">
            <a:avLst/>
          </a:prstGeom>
        </p:spPr>
      </p:pic>
      <p:pic>
        <p:nvPicPr>
          <p:cNvPr id="6" name="Picture 5" descr="Saveetha Institute of Medical and Technical Sciences -SIMATS | Chennai">
            <a:extLst>
              <a:ext uri="{FF2B5EF4-FFF2-40B4-BE49-F238E27FC236}">
                <a16:creationId xmlns:a16="http://schemas.microsoft.com/office/drawing/2014/main" id="{AB58BA16-6DFE-47A2-A1E6-6A73A19BC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-16671"/>
            <a:ext cx="1734585" cy="13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5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4E5C-BCAC-B846-4AD9-D380F093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339" y="617678"/>
            <a:ext cx="6716057" cy="10529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3533C97F-AD58-4284-B6DF-23E439ED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82" y="-16670"/>
            <a:ext cx="1734585" cy="1268696"/>
          </a:xfrm>
          <a:prstGeom prst="rect">
            <a:avLst/>
          </a:prstGeom>
        </p:spPr>
      </p:pic>
      <p:pic>
        <p:nvPicPr>
          <p:cNvPr id="6" name="Picture 5" descr="Saveetha School of Engineering, Chennai, Tamil Nadu - Careerindia">
            <a:extLst>
              <a:ext uri="{FF2B5EF4-FFF2-40B4-BE49-F238E27FC236}">
                <a16:creationId xmlns:a16="http://schemas.microsoft.com/office/drawing/2014/main" id="{84F21AF8-9C4E-48C0-B459-164AC50E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" y="164001"/>
            <a:ext cx="1320454" cy="10880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195D4EF-1421-495E-9075-2DFDAC8B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96" y="1144161"/>
            <a:ext cx="11326971" cy="5106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The proposed system provides a distributed platform for healthcare data management.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It handles structured and unstructured medical data efficiently.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HDFS enables data to be stored across multiple nodes.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The system improves data availability and reliability.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It allows healthcare organizations to manage growing datasets easily.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It supports secure and efficient access to medical information.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The system can be used for hospital management, research, and healthcare analytics. </a:t>
            </a:r>
          </a:p>
        </p:txBody>
      </p:sp>
    </p:spTree>
    <p:extLst>
      <p:ext uri="{BB962C8B-B14F-4D97-AF65-F5344CB8AC3E}">
        <p14:creationId xmlns:p14="http://schemas.microsoft.com/office/powerpoint/2010/main" val="50743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1ADC-3603-AA15-0646-79A3679F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150" y="299494"/>
            <a:ext cx="10297563" cy="113162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7EA46-5A36-DD2F-61B2-33C79050B308}"/>
              </a:ext>
            </a:extLst>
          </p:cNvPr>
          <p:cNvSpPr txBox="1"/>
          <p:nvPr/>
        </p:nvSpPr>
        <p:spPr>
          <a:xfrm>
            <a:off x="1441174" y="1868557"/>
            <a:ext cx="9541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 descr="Saveetha Institute of Medical and Technical Sciences -SIMATS | Chennai">
            <a:extLst>
              <a:ext uri="{FF2B5EF4-FFF2-40B4-BE49-F238E27FC236}">
                <a16:creationId xmlns:a16="http://schemas.microsoft.com/office/drawing/2014/main" id="{D4707DB7-8898-46A2-8220-3DC4500D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250" y="164000"/>
            <a:ext cx="1734585" cy="950955"/>
          </a:xfrm>
          <a:prstGeom prst="rect">
            <a:avLst/>
          </a:prstGeom>
        </p:spPr>
      </p:pic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D41586E6-F83D-4B28-9639-E24C4BEA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" y="124245"/>
            <a:ext cx="1320454" cy="950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2AA17F-1D6A-4331-918E-A1E58E903354}"/>
              </a:ext>
            </a:extLst>
          </p:cNvPr>
          <p:cNvSpPr/>
          <p:nvPr/>
        </p:nvSpPr>
        <p:spPr>
          <a:xfrm>
            <a:off x="840235" y="1747283"/>
            <a:ext cx="11085341" cy="4454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Healthcare organizations generate a large amount of data every day, including patient records, medical images, laboratory reports, prescriptions, and sensor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 Traditional storage systems may not be able to efficiently handle this continuously increasing data because of limited storage capacity, scalability issues, and the risk of data loss.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Healthcare data also needs to be available quickly and stored securely.</a:t>
            </a:r>
            <a:endParaRPr lang="en-IN" sz="2400" dirty="0">
              <a:latin typeface="Century Gothic" panose="020B0502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7DAA27-2925-4CFA-A3ED-99C0B703F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235" y="4752368"/>
            <a:ext cx="324128" cy="45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78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864243-140D-4ABE-8D16-12D51F935780}"/>
              </a:ext>
            </a:extLst>
          </p:cNvPr>
          <p:cNvSpPr/>
          <p:nvPr/>
        </p:nvSpPr>
        <p:spPr>
          <a:xfrm>
            <a:off x="4347809" y="285534"/>
            <a:ext cx="26228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BE0DB-40EC-45CA-AF04-94C61CBED1C0}"/>
              </a:ext>
            </a:extLst>
          </p:cNvPr>
          <p:cNvSpPr/>
          <p:nvPr/>
        </p:nvSpPr>
        <p:spPr>
          <a:xfrm>
            <a:off x="723398" y="1805367"/>
            <a:ext cx="11045687" cy="359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store large volumes of healthcare data using HDFS.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improve scalability by allowing additional storage nodes to be added easily.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provide fault tolerance through data replication across multiple nodes.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enable faster retrieval of patient records and medical data.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reduce data loss caused by hardware or server failures.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To provide a cost-effective solution for large-scale healthcare data storage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 </a:t>
            </a:r>
            <a:endParaRPr lang="en-IN" sz="2200" dirty="0"/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1AEF8854-7B9A-4989-A8DE-B5A4F68B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24245"/>
            <a:ext cx="1320454" cy="1187720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22566F80-02E8-4759-B19A-39C2549C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250" y="164000"/>
            <a:ext cx="1734585" cy="10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7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4705-75E3-8163-0B1E-0B4E275A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729" y="25258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F0035E-909D-FF86-5512-C2CEFE337B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878496" y="1848679"/>
            <a:ext cx="8328991" cy="4390804"/>
          </a:xfrm>
          <a:prstGeom prst="rect">
            <a:avLst/>
          </a:prstGeom>
        </p:spPr>
      </p:pic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DAAB54A8-6CCD-4A60-9A1E-E5A9A1933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" y="164001"/>
            <a:ext cx="1320454" cy="1073956"/>
          </a:xfrm>
          <a:prstGeom prst="rect">
            <a:avLst/>
          </a:prstGeom>
        </p:spPr>
      </p:pic>
      <p:pic>
        <p:nvPicPr>
          <p:cNvPr id="6" name="Picture 5" descr="Saveetha Institute of Medical and Technical Sciences -SIMATS | Chennai">
            <a:extLst>
              <a:ext uri="{FF2B5EF4-FFF2-40B4-BE49-F238E27FC236}">
                <a16:creationId xmlns:a16="http://schemas.microsoft.com/office/drawing/2014/main" id="{91A0CCAC-BAC0-4DDF-8138-47087908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7182" y="-16670"/>
            <a:ext cx="1734585" cy="9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6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4705-75E3-8163-0B1E-0B4E275A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729" y="25258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DAAB54A8-6CCD-4A60-9A1E-E5A9A193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073956"/>
          </a:xfrm>
          <a:prstGeom prst="rect">
            <a:avLst/>
          </a:prstGeom>
        </p:spPr>
      </p:pic>
      <p:pic>
        <p:nvPicPr>
          <p:cNvPr id="6" name="Picture 5" descr="Saveetha Institute of Medical and Technical Sciences -SIMATS | Chennai">
            <a:extLst>
              <a:ext uri="{FF2B5EF4-FFF2-40B4-BE49-F238E27FC236}">
                <a16:creationId xmlns:a16="http://schemas.microsoft.com/office/drawing/2014/main" id="{91A0CCAC-BAC0-4DDF-8138-470879080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-16670"/>
            <a:ext cx="1734585" cy="95095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DAE402-DACF-45F3-A759-C5690E8AA7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2870" y="1318607"/>
            <a:ext cx="10363826" cy="342410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1. Healthcare Data Collection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Collect healthcare data such as patient records, laboratory reports, medical images, prescriptions, and sensor data from different sources.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2. Data Preprocessing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Organize and prepare the collected data by removing unnecessary or duplicate information and arranging it in a suitable format.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3. Data Storage Using HDFS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Upload the healthcare data into HDFS, where large files are divided into smaller blocks and distributed across multiple </a:t>
            </a:r>
            <a:r>
              <a:rPr lang="en-US" sz="2200" dirty="0" err="1">
                <a:latin typeface="Century Gothic" panose="020B0502020202020204" pitchFamily="34" charset="0"/>
              </a:rPr>
              <a:t>DataNodes</a:t>
            </a:r>
            <a:r>
              <a:rPr lang="en-US" sz="2200" dirty="0"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801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4705-75E3-8163-0B1E-0B4E275A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729" y="25258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DAAB54A8-6CCD-4A60-9A1E-E5A9A193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073956"/>
          </a:xfrm>
          <a:prstGeom prst="rect">
            <a:avLst/>
          </a:prstGeom>
        </p:spPr>
      </p:pic>
      <p:pic>
        <p:nvPicPr>
          <p:cNvPr id="6" name="Picture 5" descr="Saveetha Institute of Medical and Technical Sciences -SIMATS | Chennai">
            <a:extLst>
              <a:ext uri="{FF2B5EF4-FFF2-40B4-BE49-F238E27FC236}">
                <a16:creationId xmlns:a16="http://schemas.microsoft.com/office/drawing/2014/main" id="{91A0CCAC-BAC0-4DDF-8138-470879080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-16670"/>
            <a:ext cx="1734585" cy="95095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DAE402-DACF-45F3-A759-C5690E8AA7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0104" y="1109645"/>
            <a:ext cx="10363826" cy="342410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4. Data Replication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Create multiple copies of data blocks to ensure fault tolerance and data    availability if a storage node fails.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5. Data Indexing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Create indexes and metadata to help locate healthcare records quickly based on details such as Patient ID, date, or record type.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Century Gothic" panose="020B0502020202020204" pitchFamily="34" charset="0"/>
              </a:rPr>
              <a:t>6. Secure Data Access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Implement user authentication and role-based access control to ensure that only authorized users can access sensitive healthcare information.</a:t>
            </a:r>
          </a:p>
          <a:p>
            <a:pPr marL="0" indent="0" algn="just">
              <a:buNone/>
            </a:pPr>
            <a:endParaRPr lang="en-I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79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B221-24EB-940A-BBC7-0A7501611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539" y="189808"/>
            <a:ext cx="9731034" cy="92514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9F7F3498-A03E-475F-9CCD-8E3BA688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95095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5C152D96-D5E1-4FC4-83BC-2C7032A0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76" y="151673"/>
            <a:ext cx="1734585" cy="9509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12942E-03FE-4CFF-80C0-A7493C76C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625684"/>
              </p:ext>
            </p:extLst>
          </p:nvPr>
        </p:nvGraphicFramePr>
        <p:xfrm>
          <a:off x="723398" y="1140763"/>
          <a:ext cx="11025807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471">
                  <a:extLst>
                    <a:ext uri="{9D8B030D-6E8A-4147-A177-3AD203B41FA5}">
                      <a16:colId xmlns:a16="http://schemas.microsoft.com/office/drawing/2014/main" val="4186627918"/>
                    </a:ext>
                  </a:extLst>
                </a:gridCol>
                <a:gridCol w="1682970">
                  <a:extLst>
                    <a:ext uri="{9D8B030D-6E8A-4147-A177-3AD203B41FA5}">
                      <a16:colId xmlns:a16="http://schemas.microsoft.com/office/drawing/2014/main" val="561813750"/>
                    </a:ext>
                  </a:extLst>
                </a:gridCol>
                <a:gridCol w="3300683">
                  <a:extLst>
                    <a:ext uri="{9D8B030D-6E8A-4147-A177-3AD203B41FA5}">
                      <a16:colId xmlns:a16="http://schemas.microsoft.com/office/drawing/2014/main" val="3761504787"/>
                    </a:ext>
                  </a:extLst>
                </a:gridCol>
                <a:gridCol w="3300683">
                  <a:extLst>
                    <a:ext uri="{9D8B030D-6E8A-4147-A177-3AD203B41FA5}">
                      <a16:colId xmlns:a16="http://schemas.microsoft.com/office/drawing/2014/main" val="293832117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Finding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066597"/>
                  </a:ext>
                </a:extLst>
              </a:tr>
              <a:tr h="162798">
                <a:tc>
                  <a:txBody>
                    <a:bodyPr/>
                    <a:lstStyle/>
                    <a:p>
                      <a:r>
                        <a:rPr lang="en-IN" dirty="0"/>
                        <a:t>Imran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big-data analytics 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Hadoop and big-data technologies help manage </a:t>
                      </a:r>
                      <a:r>
                        <a:rPr lang="en-US" b="0" dirty="0"/>
                        <a:t>large healthcare datasets efficiently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911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IN" dirty="0" err="1"/>
                        <a:t>Awrahman</a:t>
                      </a:r>
                      <a:r>
                        <a:rPr lang="en-IN" dirty="0"/>
                        <a:t>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Reviewed the role of big data in healthcare.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Healthcare big data improves </a:t>
                      </a:r>
                      <a:r>
                        <a:rPr lang="en-US" b="0" dirty="0"/>
                        <a:t>data management and decision-making</a:t>
                      </a:r>
                      <a:r>
                        <a:rPr lang="en-US" dirty="0"/>
                        <a:t>, but security remains a challenge.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80386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IN" dirty="0"/>
                        <a:t>Khan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healthcare big-data analytics for efficient care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Big-data analytics supports </a:t>
                      </a:r>
                      <a:r>
                        <a:rPr lang="en-US" b="0" dirty="0"/>
                        <a:t>efficient healthcare services and disease diagnosis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31855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IN" dirty="0" err="1"/>
                        <a:t>Elragal</a:t>
                      </a:r>
                      <a:r>
                        <a:rPr lang="en-IN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healthcare big-data analytics for efficient care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Big data, AI, and ML can improve healthcare analytics and patient care.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125717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IN" dirty="0" err="1"/>
                        <a:t>Dharmawan</a:t>
                      </a:r>
                      <a:r>
                        <a:rPr lang="en-IN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big-data capabilities in hospitals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Proper data infrastructure and storage capabilities are important for hospital analytics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8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642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FAD2-47FA-5114-6338-7ABAAA65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73" y="410710"/>
            <a:ext cx="9890060" cy="8806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Distributed Data Storage (HDFS)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45DDE-FEBF-3227-E784-6089B3A4530B}"/>
              </a:ext>
            </a:extLst>
          </p:cNvPr>
          <p:cNvSpPr txBox="1"/>
          <p:nvPr/>
        </p:nvSpPr>
        <p:spPr>
          <a:xfrm>
            <a:off x="723398" y="1274819"/>
            <a:ext cx="10704107" cy="56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Data Collection: Collects patient records, medical images, lab reports, and sensor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Data Division: Large healthcare files are divided into smaller blocks.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Distributed Storage: Blocks are stored across multiple Data Nodes.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Name Node: Maintains file metadata and tracks block locations.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Data Replication: Creates multiple copies of blocks to prevent data loss.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Fault Tolerance: Data remains available even if a </a:t>
            </a:r>
            <a:r>
              <a:rPr lang="en-US" sz="2200" dirty="0" err="1">
                <a:latin typeface="Century Gothic" panose="020B0502020202020204" pitchFamily="34" charset="0"/>
              </a:rPr>
              <a:t>DataNode</a:t>
            </a:r>
            <a:r>
              <a:rPr lang="en-US" sz="2200" dirty="0">
                <a:latin typeface="Century Gothic" panose="020B0502020202020204" pitchFamily="34" charset="0"/>
              </a:rPr>
              <a:t> fails.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Scalability: More </a:t>
            </a:r>
            <a:r>
              <a:rPr lang="en-US" sz="2200" dirty="0" err="1">
                <a:latin typeface="Century Gothic" panose="020B0502020202020204" pitchFamily="34" charset="0"/>
              </a:rPr>
              <a:t>DataNodes</a:t>
            </a:r>
            <a:r>
              <a:rPr lang="en-US" sz="2200" dirty="0">
                <a:latin typeface="Century Gothic" panose="020B0502020202020204" pitchFamily="34" charset="0"/>
              </a:rPr>
              <a:t> can be added when healthcare data increases. 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2827DB81-0BA2-477A-939D-6177E7C6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95095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ADF742B9-8453-49A8-B9C7-173D373D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6071" y="160815"/>
            <a:ext cx="1734585" cy="9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9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55B3C55F-078C-4F50-BF80-40B0BE90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8" y="229275"/>
            <a:ext cx="1320454" cy="950955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BAB2A05-AEC2-45AA-8B4F-646B3525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307" y="107741"/>
            <a:ext cx="1734585" cy="950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595639-03E3-4568-A03B-BA5159F2025E}"/>
              </a:ext>
            </a:extLst>
          </p:cNvPr>
          <p:cNvSpPr txBox="1"/>
          <p:nvPr/>
        </p:nvSpPr>
        <p:spPr>
          <a:xfrm>
            <a:off x="2763078" y="350810"/>
            <a:ext cx="6665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Module 1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4D38E-B340-4C79-B9D4-821C50A4F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35" y="1460499"/>
            <a:ext cx="5490265" cy="5168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8B25DD-01E7-4877-B7F1-59A73B5E6B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460499"/>
            <a:ext cx="57404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2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FD5A-115F-05DA-C26D-48B1EA72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582" y="164001"/>
            <a:ext cx="11756054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Indexing &amp; Retrieval Engine</a:t>
            </a: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83EC4376-E58F-477F-9A55-A983329B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20056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0E7062A6-0703-4FF2-9E97-D6BF4988F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307" y="107741"/>
            <a:ext cx="1734585" cy="95095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9837461-D029-4B61-8C60-4F7D3DD3E34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23398" y="1681945"/>
            <a:ext cx="11290852" cy="45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Data Indexing: Creates indexes for quick access to healthcare records.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Metadata Management: Stores information about patient files and data locations.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Search Processing: Searches records based on patient ID, date, type, etc.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Fast Retrieval: Locates and retrieves required data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Query Handling: Processes user requests for specific healthcare data.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Data Filtering: Retrieves only the required records from large datasets.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Efficient Access: Reduces search time and improves overall system performance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0881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0ECAE94C-1D7C-43FA-A13D-C937DDD92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130227"/>
          </a:xfrm>
          <a:prstGeom prst="rect">
            <a:avLst/>
          </a:prstGeom>
        </p:spPr>
      </p:pic>
      <p:pic>
        <p:nvPicPr>
          <p:cNvPr id="4" name="Picture 3" descr="Saveetha Institute of Medical and Technical Sciences -SIMATS | Chennai">
            <a:extLst>
              <a:ext uri="{FF2B5EF4-FFF2-40B4-BE49-F238E27FC236}">
                <a16:creationId xmlns:a16="http://schemas.microsoft.com/office/drawing/2014/main" id="{D7927C55-7540-41DC-8E69-38D07BF3E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132102"/>
            <a:ext cx="1734585" cy="9509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ED80C5-6797-4B22-845A-682ECF1C5BFB}"/>
              </a:ext>
            </a:extLst>
          </p:cNvPr>
          <p:cNvSpPr/>
          <p:nvPr/>
        </p:nvSpPr>
        <p:spPr>
          <a:xfrm>
            <a:off x="3046126" y="375171"/>
            <a:ext cx="6444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Module 2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D82B26-6849-4BFF-832C-3E92FE725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98" y="1574800"/>
            <a:ext cx="5372602" cy="434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574F6F-8A35-4DED-9C20-5E7BFEC47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562" y="1574800"/>
            <a:ext cx="4978040" cy="44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42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4494-E20B-7CD0-92FB-984ABFEBB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5" y="258861"/>
            <a:ext cx="1274425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Access &amp; Reporting Dashboard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1D951-239C-F287-350A-7948C9BA64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51" y="1716946"/>
            <a:ext cx="10363826" cy="342410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User Authentication: Verifies authorized healthcare users.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Role-Based Access: Provides access based on user roles.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Data Security: Protects sensitive patient information.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Dashboard: Displays healthcare data in a simple interface.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Report Generation: Creates reports from stored data.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Data Visualization: Shows important information using charts and graphs.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Activity Monitoring: Tracks user access and system activities. 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 descr="Saveetha School of Engineering, Chennai, Tamil Nadu - Careerindia">
            <a:extLst>
              <a:ext uri="{FF2B5EF4-FFF2-40B4-BE49-F238E27FC236}">
                <a16:creationId xmlns:a16="http://schemas.microsoft.com/office/drawing/2014/main" id="{2E22059C-7667-4FF6-A414-B79918CD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120056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CF02E2AF-D49D-4F70-8BF3-315CB6569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85" y="115846"/>
            <a:ext cx="1734585" cy="9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89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D2A6C264-B3A8-4EE8-8C40-F5931448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950955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C63E5D65-72FF-47CA-99F3-E5AC5B154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307" y="107741"/>
            <a:ext cx="1734585" cy="950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980E72-5946-4A0F-B07A-7D455B0203B4}"/>
              </a:ext>
            </a:extLst>
          </p:cNvPr>
          <p:cNvSpPr/>
          <p:nvPr/>
        </p:nvSpPr>
        <p:spPr>
          <a:xfrm>
            <a:off x="2725105" y="350810"/>
            <a:ext cx="6444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Module 3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86143-5272-4C97-BE7B-F56E33E5D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87" y="1389062"/>
            <a:ext cx="5675313" cy="4867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9BF339-80AC-41EF-AF40-F8E174B83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1541461"/>
            <a:ext cx="48387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3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8E516D57-EA0E-462A-A477-18905017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07730"/>
            <a:ext cx="1320454" cy="1186497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6558BF0D-AF7B-460E-A837-C5A2BCC68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250" y="164001"/>
            <a:ext cx="1734585" cy="950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2B385E-6233-4B23-93A7-EF508725EF65}"/>
              </a:ext>
            </a:extLst>
          </p:cNvPr>
          <p:cNvSpPr/>
          <p:nvPr/>
        </p:nvSpPr>
        <p:spPr>
          <a:xfrm>
            <a:off x="177678" y="1855304"/>
            <a:ext cx="7760375" cy="4598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High scalability.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Fault tolerance.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Large data storage capacity.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High data availability.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Cost-effective storage.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Distributed data processing.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Suitable for large healthcare datasets.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5951F-C592-4AAE-B1E6-697C7B61F7D7}"/>
              </a:ext>
            </a:extLst>
          </p:cNvPr>
          <p:cNvSpPr txBox="1"/>
          <p:nvPr/>
        </p:nvSpPr>
        <p:spPr>
          <a:xfrm>
            <a:off x="2862468" y="278295"/>
            <a:ext cx="6930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Advantages and Limitations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5217D-8F48-401D-8C0A-C1387BE229B1}"/>
              </a:ext>
            </a:extLst>
          </p:cNvPr>
          <p:cNvSpPr txBox="1"/>
          <p:nvPr/>
        </p:nvSpPr>
        <p:spPr>
          <a:xfrm flipH="1">
            <a:off x="6109250" y="1670638"/>
            <a:ext cx="6082749" cy="510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Limitations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Complex setup and management.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Requires technical expertise.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Security and privacy must be carefully managed.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Not suitable for many small files.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Requires regular monitoring and maintenance.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Not ideal for extremely low-latency transactions.</a:t>
            </a:r>
            <a:endParaRPr lang="en-IN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605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8E516D57-EA0E-462A-A477-18905017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07730"/>
            <a:ext cx="1320454" cy="1186497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6558BF0D-AF7B-460E-A837-C5A2BCC68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250" y="164001"/>
            <a:ext cx="1734585" cy="950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8EDD18-360D-4218-83B4-96E3BED72AF8}"/>
              </a:ext>
            </a:extLst>
          </p:cNvPr>
          <p:cNvSpPr txBox="1"/>
          <p:nvPr/>
        </p:nvSpPr>
        <p:spPr>
          <a:xfrm>
            <a:off x="3485321" y="745624"/>
            <a:ext cx="6082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BF06F58-C2BF-4E3E-902A-B60467DEF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319" y="1891783"/>
            <a:ext cx="4742004" cy="45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Century Gothic" panose="020B0502020202020204" pitchFamily="34" charset="0"/>
              </a:rPr>
              <a:t>Electronic Health Records (EHR)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Medical image storage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Laboratory reports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Hospital management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Remote patient monitoring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Healthcare analytics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Medical research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Disease pattern analysis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596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id="{5CA6592E-F787-426E-BFB5-D74F34C1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" y="164001"/>
            <a:ext cx="1320454" cy="950955"/>
          </a:xfrm>
          <a:prstGeom prst="rect">
            <a:avLst/>
          </a:prstGeom>
        </p:spPr>
      </p:pic>
      <p:pic>
        <p:nvPicPr>
          <p:cNvPr id="3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6EBF572F-561A-4097-99AE-709D97EB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307" y="107741"/>
            <a:ext cx="1734585" cy="950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4F3B5-5F17-4C21-AC8A-6A42F5988A81}"/>
              </a:ext>
            </a:extLst>
          </p:cNvPr>
          <p:cNvSpPr txBox="1"/>
          <p:nvPr/>
        </p:nvSpPr>
        <p:spPr>
          <a:xfrm>
            <a:off x="4241800" y="407070"/>
            <a:ext cx="2882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BE23C-EEEF-4E7A-80E3-EBA9C8B506C2}"/>
              </a:ext>
            </a:extLst>
          </p:cNvPr>
          <p:cNvSpPr/>
          <p:nvPr/>
        </p:nvSpPr>
        <p:spPr>
          <a:xfrm>
            <a:off x="1383625" y="1792238"/>
            <a:ext cx="8886307" cy="4090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HDFS provides a scalable and reliable solution for healthcare data.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Distributed storage handles very large datasets.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Replication improves data availability and fault tolerance.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It can support hospitals, research centers, and healthcare organizations.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entury Gothic" panose="020B0502020202020204" pitchFamily="34" charset="0"/>
              </a:rPr>
              <a:t>HDFS helps manage the continuously increasing volume of healthcare data. </a:t>
            </a:r>
          </a:p>
        </p:txBody>
      </p:sp>
    </p:spTree>
    <p:extLst>
      <p:ext uri="{BB962C8B-B14F-4D97-AF65-F5344CB8AC3E}">
        <p14:creationId xmlns:p14="http://schemas.microsoft.com/office/powerpoint/2010/main" val="752604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BC71-B8AD-3738-043F-E12E7AC7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229" y="-15485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(cont..)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5F455132-3D9D-4B3E-B704-54016DC5D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-6556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6448E2A0-75E5-7D06-EB40-506C88CC1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94" y="3920627"/>
            <a:ext cx="9365375" cy="553998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Saveetha Institute of Medical and Technical Sciences -SIMATS | Chennai">
            <a:extLst>
              <a:ext uri="{FF2B5EF4-FFF2-40B4-BE49-F238E27FC236}">
                <a16:creationId xmlns:a16="http://schemas.microsoft.com/office/drawing/2014/main" id="{2552B27D-A2F9-4FDC-ABE9-F87B30F5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-16670"/>
            <a:ext cx="1734585" cy="950955"/>
          </a:xfrm>
          <a:prstGeom prst="rect">
            <a:avLst/>
          </a:prstGeom>
        </p:spPr>
      </p:pic>
      <p:pic>
        <p:nvPicPr>
          <p:cNvPr id="9" name="Picture 8" descr="Saveetha School of Engineering, Chennai, Tamil Nadu - Careerindia">
            <a:extLst>
              <a:ext uri="{FF2B5EF4-FFF2-40B4-BE49-F238E27FC236}">
                <a16:creationId xmlns:a16="http://schemas.microsoft.com/office/drawing/2014/main" id="{5FDAC849-3319-41BB-83C8-E24AE512D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1" y="107730"/>
            <a:ext cx="1320454" cy="118649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A77E31A-9C5E-4D67-88F3-3E9FE058CF8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83625" y="1263361"/>
            <a:ext cx="10515600" cy="531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br>
              <a:rPr lang="en-IN" sz="2200" dirty="0">
                <a:latin typeface="Century Gothic" panose="020B0502020202020204" pitchFamily="34" charset="0"/>
              </a:rPr>
            </a:br>
            <a:r>
              <a:rPr lang="en-IN" sz="2200" dirty="0">
                <a:latin typeface="Century Gothic" panose="020B0502020202020204" pitchFamily="34" charset="0"/>
              </a:rPr>
              <a:t>[1] K. </a:t>
            </a:r>
            <a:r>
              <a:rPr lang="en-IN" sz="2200" dirty="0" err="1">
                <a:latin typeface="Century Gothic" panose="020B0502020202020204" pitchFamily="34" charset="0"/>
              </a:rPr>
              <a:t>Shvachko</a:t>
            </a:r>
            <a:r>
              <a:rPr lang="en-IN" sz="2200" dirty="0">
                <a:latin typeface="Century Gothic" panose="020B0502020202020204" pitchFamily="34" charset="0"/>
              </a:rPr>
              <a:t>, H. </a:t>
            </a:r>
            <a:r>
              <a:rPr lang="en-IN" sz="2200" dirty="0" err="1">
                <a:latin typeface="Century Gothic" panose="020B0502020202020204" pitchFamily="34" charset="0"/>
              </a:rPr>
              <a:t>Kuang</a:t>
            </a:r>
            <a:r>
              <a:rPr lang="en-IN" sz="2200" dirty="0">
                <a:latin typeface="Century Gothic" panose="020B0502020202020204" pitchFamily="34" charset="0"/>
              </a:rPr>
              <a:t>, S. </a:t>
            </a:r>
            <a:r>
              <a:rPr lang="en-IN" sz="2200" dirty="0" err="1">
                <a:latin typeface="Century Gothic" panose="020B0502020202020204" pitchFamily="34" charset="0"/>
              </a:rPr>
              <a:t>Radia</a:t>
            </a:r>
            <a:r>
              <a:rPr lang="en-IN" sz="2200" dirty="0">
                <a:latin typeface="Century Gothic" panose="020B0502020202020204" pitchFamily="34" charset="0"/>
              </a:rPr>
              <a:t>, and R. </a:t>
            </a:r>
            <a:r>
              <a:rPr lang="en-IN" sz="2200" dirty="0" err="1">
                <a:latin typeface="Century Gothic" panose="020B0502020202020204" pitchFamily="34" charset="0"/>
              </a:rPr>
              <a:t>Chansler</a:t>
            </a:r>
            <a:r>
              <a:rPr lang="en-IN" sz="2200" dirty="0">
                <a:latin typeface="Century Gothic" panose="020B0502020202020204" pitchFamily="34" charset="0"/>
              </a:rPr>
              <a:t>, “The Hadoop Distributed File System,” in </a:t>
            </a:r>
            <a:r>
              <a:rPr lang="en-IN" sz="2200" i="1" dirty="0">
                <a:latin typeface="Century Gothic" panose="020B0502020202020204" pitchFamily="34" charset="0"/>
              </a:rPr>
              <a:t>Proc. IEEE 26th </a:t>
            </a:r>
            <a:r>
              <a:rPr lang="en-IN" sz="2200" i="1" dirty="0" err="1">
                <a:latin typeface="Century Gothic" panose="020B0502020202020204" pitchFamily="34" charset="0"/>
              </a:rPr>
              <a:t>Symp</a:t>
            </a:r>
            <a:r>
              <a:rPr lang="en-IN" sz="2200" i="1" dirty="0">
                <a:latin typeface="Century Gothic" panose="020B0502020202020204" pitchFamily="34" charset="0"/>
              </a:rPr>
              <a:t>. Mass Storage Systems and Technologies (MSST)</a:t>
            </a:r>
            <a:r>
              <a:rPr lang="en-IN" sz="2200" dirty="0">
                <a:latin typeface="Century Gothic" panose="020B0502020202020204" pitchFamily="34" charset="0"/>
              </a:rPr>
              <a:t>, Incline Village, NV, USA, 2010, pp. 1–10.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[2] J. Dean and S. Ghemawat, “MapReduce: Simplified data processing on large clusters,” </a:t>
            </a:r>
            <a:r>
              <a:rPr lang="en-IN" sz="2200" i="1" dirty="0">
                <a:latin typeface="Century Gothic" panose="020B0502020202020204" pitchFamily="34" charset="0"/>
              </a:rPr>
              <a:t>Communications of the ACM</a:t>
            </a:r>
            <a:r>
              <a:rPr lang="en-IN" sz="2200" dirty="0">
                <a:latin typeface="Century Gothic" panose="020B0502020202020204" pitchFamily="34" charset="0"/>
              </a:rPr>
              <a:t>, vol. 51, no. 1, pp. 107–113, Jan. 2008.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[3] T. White, </a:t>
            </a:r>
            <a:r>
              <a:rPr lang="en-IN" sz="2200" i="1" dirty="0">
                <a:latin typeface="Century Gothic" panose="020B0502020202020204" pitchFamily="34" charset="0"/>
              </a:rPr>
              <a:t>Hadoop: The Definitive Guide</a:t>
            </a:r>
            <a:r>
              <a:rPr lang="en-IN" sz="2200" dirty="0">
                <a:latin typeface="Century Gothic" panose="020B0502020202020204" pitchFamily="34" charset="0"/>
              </a:rPr>
              <a:t>, 4th ed. Sebastopol, CA, USA: O’Reilly Media, 2015.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[4] M. Chen, S. Mao, and Y. Liu, “Big data: A survey,” </a:t>
            </a:r>
            <a:r>
              <a:rPr lang="en-IN" sz="2200" i="1" dirty="0">
                <a:latin typeface="Century Gothic" panose="020B0502020202020204" pitchFamily="34" charset="0"/>
              </a:rPr>
              <a:t>Mobile Networks and Applications</a:t>
            </a:r>
            <a:r>
              <a:rPr lang="en-IN" sz="2200" dirty="0">
                <a:latin typeface="Century Gothic" panose="020B0502020202020204" pitchFamily="34" charset="0"/>
              </a:rPr>
              <a:t>, vol. 19, no. 2, pp. 171–209, Apr. 2014.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[5] A. </a:t>
            </a:r>
            <a:r>
              <a:rPr lang="en-IN" sz="2200" dirty="0" err="1">
                <a:latin typeface="Century Gothic" panose="020B0502020202020204" pitchFamily="34" charset="0"/>
              </a:rPr>
              <a:t>Katal</a:t>
            </a:r>
            <a:r>
              <a:rPr lang="en-IN" sz="2200" dirty="0">
                <a:latin typeface="Century Gothic" panose="020B0502020202020204" pitchFamily="34" charset="0"/>
              </a:rPr>
              <a:t>, M. </a:t>
            </a:r>
            <a:r>
              <a:rPr lang="en-IN" sz="2200" dirty="0" err="1">
                <a:latin typeface="Century Gothic" panose="020B0502020202020204" pitchFamily="34" charset="0"/>
              </a:rPr>
              <a:t>Wazid</a:t>
            </a:r>
            <a:r>
              <a:rPr lang="en-IN" sz="2200" dirty="0">
                <a:latin typeface="Century Gothic" panose="020B0502020202020204" pitchFamily="34" charset="0"/>
              </a:rPr>
              <a:t>, and R. H. </a:t>
            </a:r>
            <a:r>
              <a:rPr lang="en-IN" sz="2200" dirty="0" err="1">
                <a:latin typeface="Century Gothic" panose="020B0502020202020204" pitchFamily="34" charset="0"/>
              </a:rPr>
              <a:t>Goudar</a:t>
            </a:r>
            <a:r>
              <a:rPr lang="en-IN" sz="2200" dirty="0">
                <a:latin typeface="Century Gothic" panose="020B0502020202020204" pitchFamily="34" charset="0"/>
              </a:rPr>
              <a:t>, “Big data: Issues, challenges, tools and good practices,” in </a:t>
            </a:r>
            <a:r>
              <a:rPr lang="en-IN" sz="2200" i="1" dirty="0">
                <a:latin typeface="Century Gothic" panose="020B0502020202020204" pitchFamily="34" charset="0"/>
              </a:rPr>
              <a:t>Proc. 6th Int. Conf. Contemporary Computing (IC3)</a:t>
            </a:r>
            <a:r>
              <a:rPr lang="en-IN" sz="2200" dirty="0">
                <a:latin typeface="Century Gothic" panose="020B0502020202020204" pitchFamily="34" charset="0"/>
              </a:rPr>
              <a:t>, Noida, India, 2013, pp. 404–409.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944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BC71-B8AD-3738-043F-E12E7AC7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229" y="-15485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5F455132-3D9D-4B3E-B704-54016DC5D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-6556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6448E2A0-75E5-7D06-EB40-506C88CC1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94" y="3920627"/>
            <a:ext cx="9365375" cy="553998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Saveetha Institute of Medical and Technical Sciences -SIMATS | Chennai">
            <a:extLst>
              <a:ext uri="{FF2B5EF4-FFF2-40B4-BE49-F238E27FC236}">
                <a16:creationId xmlns:a16="http://schemas.microsoft.com/office/drawing/2014/main" id="{2552B27D-A2F9-4FDC-ABE9-F87B30F5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182" y="-16670"/>
            <a:ext cx="1734585" cy="950955"/>
          </a:xfrm>
          <a:prstGeom prst="rect">
            <a:avLst/>
          </a:prstGeom>
        </p:spPr>
      </p:pic>
      <p:pic>
        <p:nvPicPr>
          <p:cNvPr id="9" name="Picture 8" descr="Saveetha School of Engineering, Chennai, Tamil Nadu - Careerindia">
            <a:extLst>
              <a:ext uri="{FF2B5EF4-FFF2-40B4-BE49-F238E27FC236}">
                <a16:creationId xmlns:a16="http://schemas.microsoft.com/office/drawing/2014/main" id="{5FDAC849-3319-41BB-83C8-E24AE512D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1" y="107730"/>
            <a:ext cx="1320454" cy="118649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A77E31A-9C5E-4D67-88F3-3E9FE058CF8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57538" y="1263361"/>
            <a:ext cx="10515600" cy="531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[6] M. </a:t>
            </a:r>
            <a:r>
              <a:rPr lang="en-IN" sz="2200" dirty="0" err="1">
                <a:latin typeface="Century Gothic" panose="020B0502020202020204" pitchFamily="34" charset="0"/>
              </a:rPr>
              <a:t>Raghupathi</a:t>
            </a:r>
            <a:r>
              <a:rPr lang="en-IN" sz="2200" dirty="0">
                <a:latin typeface="Century Gothic" panose="020B0502020202020204" pitchFamily="34" charset="0"/>
              </a:rPr>
              <a:t> and W. </a:t>
            </a:r>
            <a:r>
              <a:rPr lang="en-IN" sz="2200" dirty="0" err="1">
                <a:latin typeface="Century Gothic" panose="020B0502020202020204" pitchFamily="34" charset="0"/>
              </a:rPr>
              <a:t>Raghupathi</a:t>
            </a:r>
            <a:r>
              <a:rPr lang="en-IN" sz="2200" dirty="0">
                <a:latin typeface="Century Gothic" panose="020B0502020202020204" pitchFamily="34" charset="0"/>
              </a:rPr>
              <a:t>, “Big data analytics in healthcare: Promise and potential,” </a:t>
            </a:r>
            <a:r>
              <a:rPr lang="en-IN" sz="2200" i="1" dirty="0">
                <a:latin typeface="Century Gothic" panose="020B0502020202020204" pitchFamily="34" charset="0"/>
              </a:rPr>
              <a:t>Health Information Science and Systems</a:t>
            </a:r>
            <a:r>
              <a:rPr lang="en-IN" sz="2200" dirty="0">
                <a:latin typeface="Century Gothic" panose="020B0502020202020204" pitchFamily="34" charset="0"/>
              </a:rPr>
              <a:t>, vol. 2, no. 1, pp. 1–10, Feb. 2024.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[7] W. </a:t>
            </a:r>
            <a:r>
              <a:rPr lang="en-IN" sz="2200" dirty="0" err="1">
                <a:latin typeface="Century Gothic" panose="020B0502020202020204" pitchFamily="34" charset="0"/>
              </a:rPr>
              <a:t>Raghupathi</a:t>
            </a:r>
            <a:r>
              <a:rPr lang="en-IN" sz="2200" dirty="0">
                <a:latin typeface="Century Gothic" panose="020B0502020202020204" pitchFamily="34" charset="0"/>
              </a:rPr>
              <a:t> and V. </a:t>
            </a:r>
            <a:r>
              <a:rPr lang="en-IN" sz="2200" dirty="0" err="1">
                <a:latin typeface="Century Gothic" panose="020B0502020202020204" pitchFamily="34" charset="0"/>
              </a:rPr>
              <a:t>Raghupathi</a:t>
            </a:r>
            <a:r>
              <a:rPr lang="en-IN" sz="2200" dirty="0">
                <a:latin typeface="Century Gothic" panose="020B0502020202020204" pitchFamily="34" charset="0"/>
              </a:rPr>
              <a:t>, “Big data analytics in healthcare: A review of the current state of research,” </a:t>
            </a:r>
            <a:r>
              <a:rPr lang="en-IN" sz="2200" i="1" dirty="0">
                <a:latin typeface="Century Gothic" panose="020B0502020202020204" pitchFamily="34" charset="0"/>
              </a:rPr>
              <a:t>Journal of Medical Systems</a:t>
            </a:r>
            <a:r>
              <a:rPr lang="en-IN" sz="2200" dirty="0">
                <a:latin typeface="Century Gothic" panose="020B0502020202020204" pitchFamily="34" charset="0"/>
              </a:rPr>
              <a:t>, vol. 39, no. 3, pp. 1–10, Mar. 2015.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[8] C. Lee, T. Li, and M. K. P. So, “A review of healthcare big data analytics,” in </a:t>
            </a:r>
            <a:r>
              <a:rPr lang="en-IN" sz="2200" i="1" dirty="0">
                <a:latin typeface="Century Gothic" panose="020B0502020202020204" pitchFamily="34" charset="0"/>
              </a:rPr>
              <a:t>Proc. IEEE Int. Conf. Big Data</a:t>
            </a:r>
            <a:r>
              <a:rPr lang="en-IN" sz="2200" dirty="0">
                <a:latin typeface="Century Gothic" panose="020B0502020202020204" pitchFamily="34" charset="0"/>
              </a:rPr>
              <a:t>, Washington, DC, USA, 2014, pp. 1–8.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[9] N. Khan, I. Yaqoob, I. A. T. Hashem, Z. Inayat, W. K. M. Ali, M. </a:t>
            </a:r>
            <a:r>
              <a:rPr lang="en-IN" sz="2200" dirty="0" err="1">
                <a:latin typeface="Century Gothic" panose="020B0502020202020204" pitchFamily="34" charset="0"/>
              </a:rPr>
              <a:t>Alam</a:t>
            </a:r>
            <a:r>
              <a:rPr lang="en-IN" sz="2200" dirty="0">
                <a:latin typeface="Century Gothic" panose="020B0502020202020204" pitchFamily="34" charset="0"/>
              </a:rPr>
              <a:t>, M. Shiraz, and A. </a:t>
            </a:r>
            <a:r>
              <a:rPr lang="en-IN" sz="2200" dirty="0" err="1">
                <a:latin typeface="Century Gothic" panose="020B0502020202020204" pitchFamily="34" charset="0"/>
              </a:rPr>
              <a:t>Gani</a:t>
            </a:r>
            <a:r>
              <a:rPr lang="en-IN" sz="2200" dirty="0">
                <a:latin typeface="Century Gothic" panose="020B0502020202020204" pitchFamily="34" charset="0"/>
              </a:rPr>
              <a:t>, “Big data: Survey, technologies, opportunities, and challenges,” </a:t>
            </a:r>
            <a:r>
              <a:rPr lang="en-IN" sz="2200" i="1" dirty="0">
                <a:latin typeface="Century Gothic" panose="020B0502020202020204" pitchFamily="34" charset="0"/>
              </a:rPr>
              <a:t>The Scientific World Journal</a:t>
            </a:r>
            <a:r>
              <a:rPr lang="en-IN" sz="2200" dirty="0">
                <a:latin typeface="Century Gothic" panose="020B0502020202020204" pitchFamily="34" charset="0"/>
              </a:rPr>
              <a:t>, vol. 2014, Art. no. 712826, 2014.</a:t>
            </a:r>
          </a:p>
          <a:p>
            <a:pPr marL="0" indent="0">
              <a:buNone/>
            </a:pPr>
            <a:r>
              <a:rPr lang="en-IN" sz="2200" dirty="0">
                <a:latin typeface="Century Gothic" panose="020B0502020202020204" pitchFamily="34" charset="0"/>
              </a:rPr>
              <a:t>[10] M. </a:t>
            </a:r>
            <a:r>
              <a:rPr lang="en-IN" sz="2200" dirty="0" err="1">
                <a:latin typeface="Century Gothic" panose="020B0502020202020204" pitchFamily="34" charset="0"/>
              </a:rPr>
              <a:t>Viceconti</a:t>
            </a:r>
            <a:r>
              <a:rPr lang="en-IN" sz="2200" dirty="0">
                <a:latin typeface="Century Gothic" panose="020B0502020202020204" pitchFamily="34" charset="0"/>
              </a:rPr>
              <a:t>, P. Hunter, and R. Hose, “Big data, big knowledge: Big data for personalized healthcare,” </a:t>
            </a:r>
            <a:r>
              <a:rPr lang="en-IN" sz="2200" i="1" dirty="0">
                <a:latin typeface="Century Gothic" panose="020B0502020202020204" pitchFamily="34" charset="0"/>
              </a:rPr>
              <a:t>IEEE Journal of Biomedical and Health Informatics</a:t>
            </a:r>
            <a:r>
              <a:rPr lang="en-IN" sz="2200" dirty="0">
                <a:latin typeface="Century Gothic" panose="020B0502020202020204" pitchFamily="34" charset="0"/>
              </a:rPr>
              <a:t>, vol. 19, no. 4, pp. 1213–1217, Jul. 2015.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30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3731</TotalTime>
  <Words>1646</Words>
  <Application>Microsoft Office PowerPoint</Application>
  <PresentationFormat>Widescreen</PresentationFormat>
  <Paragraphs>192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                  HDFS-Based Large-Scale Healthcare Data Storage and Retrieval System   CSA1522-CLOUD COMPUTING AND BIG ANALYTICS</vt:lpstr>
      <vt:lpstr>PowerPoint Presentation</vt:lpstr>
      <vt:lpstr>PowerPoint Presentation</vt:lpstr>
      <vt:lpstr>Introduction</vt:lpstr>
      <vt:lpstr>Abstract</vt:lpstr>
      <vt:lpstr>Problem Statement</vt:lpstr>
      <vt:lpstr>PowerPoint Presentation</vt:lpstr>
      <vt:lpstr>SYSTEM ARCHITECTURE</vt:lpstr>
      <vt:lpstr>Methodology</vt:lpstr>
      <vt:lpstr>Methodology</vt:lpstr>
      <vt:lpstr>Literature Review</vt:lpstr>
      <vt:lpstr>Module 1: Distributed Data Storage (HDFS) </vt:lpstr>
      <vt:lpstr>PowerPoint Presentation</vt:lpstr>
      <vt:lpstr>Module 2: Data Indexing &amp; Retrieval Engine</vt:lpstr>
      <vt:lpstr>PowerPoint Presentation</vt:lpstr>
      <vt:lpstr>Module 3: Secure Access &amp; Reporting Dashboard</vt:lpstr>
      <vt:lpstr>PowerPoint Presentation</vt:lpstr>
      <vt:lpstr>PowerPoint Presentation</vt:lpstr>
      <vt:lpstr>PowerPoint Presentation</vt:lpstr>
      <vt:lpstr>PowerPoint Presentation</vt:lpstr>
      <vt:lpstr>References (cont..)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HDFS-Based Large-Scale Healthcare Data Storage and Retrieval SysteM   CSA1522-CLOUD COMPUTING AND BIG ANALYTICS</dc:title>
  <dc:creator>Blessika Sankuru</dc:creator>
  <cp:lastModifiedBy>KSP</cp:lastModifiedBy>
  <cp:revision>32</cp:revision>
  <dcterms:created xsi:type="dcterms:W3CDTF">2026-07-19T05:16:10Z</dcterms:created>
  <dcterms:modified xsi:type="dcterms:W3CDTF">2026-09-01T05:10:18Z</dcterms:modified>
</cp:coreProperties>
</file>